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73152"/>
            <a:ext cx="2560320" cy="5070348"/>
          </a:xfrm>
          <a:prstGeom prst="rect">
            <a:avLst/>
          </a:prstGeom>
          <a:solidFill>
            <a:srgbClr val="162032"/>
          </a:solidFill>
          <a:ln w="12700">
            <a:solidFill>
              <a:srgbClr val="1620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73152"/>
            <a:ext cx="36576" cy="507034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SERIES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完整指南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457200" y="2450592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從概念到實作：LLM → Workflow → Agent → 自建團隊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3017520"/>
            <a:ext cx="4206240" cy="347472"/>
          </a:xfrm>
          <a:prstGeom prst="rect">
            <a:avLst/>
          </a:prstGeom>
          <a:solidFill>
            <a:srgbClr val="1A2A3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3017520"/>
            <a:ext cx="45720" cy="34747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301752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第一章：什麼是 AI Agent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47288"/>
            <a:ext cx="4206240" cy="347472"/>
          </a:xfrm>
          <a:prstGeom prst="rect">
            <a:avLst/>
          </a:prstGeom>
          <a:solidFill>
            <a:srgbClr val="1A2A3A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447288"/>
            <a:ext cx="45720" cy="347472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44728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第二章：agency-agents 實戰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877056"/>
            <a:ext cx="4206240" cy="347472"/>
          </a:xfrm>
          <a:prstGeom prst="rect">
            <a:avLst/>
          </a:prstGeom>
          <a:solidFill>
            <a:srgbClr val="1A2A3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877056"/>
            <a:ext cx="45720" cy="34747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877056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第三章：自建 Agent 實踐 (onduty)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306824"/>
            <a:ext cx="4206240" cy="347472"/>
          </a:xfrm>
          <a:prstGeom prst="rect">
            <a:avLst/>
          </a:prstGeom>
          <a:solidFill>
            <a:srgbClr val="1A2A3A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306824"/>
            <a:ext cx="45720" cy="34747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430682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第四章：AI Agent 組建自己的團隊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66560" y="1371600"/>
            <a:ext cx="2194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80000"/>
              </a:lnSpc>
              <a:buNone/>
            </a:pPr>
            <a:r>
              <a:rPr lang="en-US" sz="2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2200" dirty="0"/>
          </a:p>
          <a:p>
            <a:pPr algn="ctr" indent="0" marL="0">
              <a:lnSpc>
                <a:spcPct val="180000"/>
              </a:lnSpc>
              <a:buNone/>
            </a:pPr>
            <a:r>
              <a:rPr lang="en-US" sz="2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2200" dirty="0"/>
          </a:p>
          <a:p>
            <a:pPr algn="ctr" indent="0" marL="0">
              <a:lnSpc>
                <a:spcPct val="180000"/>
              </a:lnSpc>
              <a:buNone/>
            </a:pPr>
            <a:r>
              <a:rPr lang="en-US" sz="2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2200" dirty="0"/>
          </a:p>
          <a:p>
            <a:pPr algn="ctr" indent="0" marL="0">
              <a:lnSpc>
                <a:spcPct val="180000"/>
              </a:lnSpc>
              <a:buNone/>
            </a:pPr>
            <a:r>
              <a:rPr lang="en-US" sz="2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三階段演進：從被動到自主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2286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234440"/>
            <a:ext cx="2743200" cy="3566160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34440"/>
            <a:ext cx="2743200" cy="640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" y="1371600"/>
            <a:ext cx="438912" cy="438912"/>
          </a:xfrm>
          <a:prstGeom prst="ellipse">
            <a:avLst/>
          </a:prstGeom>
          <a:solidFill>
            <a:srgbClr val="162032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" y="1371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33272" y="1399032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大型語言模型（LLM）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84632" y="186537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— 被動圖書管理員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84632" y="2148840"/>
            <a:ext cx="2414016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231136"/>
            <a:ext cx="2414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幾乎讀過所有書，卻不知你的個人數據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84632" y="2825496"/>
            <a:ext cx="2414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天生被動：等待提示詞才有所回應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84632" y="3419856"/>
            <a:ext cx="2414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類比：「博學的實習生」——需要手把手指令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4632" y="4014216"/>
            <a:ext cx="2414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只會在櫃檯等你上前發問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18688" y="1234440"/>
            <a:ext cx="2743200" cy="3566160"/>
          </a:xfrm>
          <a:prstGeom prst="rect">
            <a:avLst/>
          </a:prstGeom>
          <a:solidFill>
            <a:srgbClr val="1E293B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18688" y="1234440"/>
            <a:ext cx="2743200" cy="6400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3280" y="1371600"/>
            <a:ext cx="438912" cy="438912"/>
          </a:xfrm>
          <a:prstGeom prst="ellipse">
            <a:avLst/>
          </a:prstGeom>
          <a:solidFill>
            <a:srgbClr val="162032"/>
          </a:solidFill>
          <a:ln w="19050">
            <a:solidFill>
              <a:srgbClr val="FCD3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83280" y="1371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931920" y="1399032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工作流（Workflow）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383280" y="186537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 — 僵硬的導航地圖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383280" y="2148840"/>
            <a:ext cx="2414016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83280" y="2231136"/>
            <a:ext cx="2414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人類提供固定「預設路徑」（Control Logic）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383280" y="2825496"/>
            <a:ext cx="2414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1→2→3 固定步驟，高效但極為脆弱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383280" y="3419856"/>
            <a:ext cx="2414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問天氣？工作流崩潰——無「天氣路徑」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383280" y="4014216"/>
            <a:ext cx="2414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05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RAG ≠ Agent，RAG 只是「查資料」的工作流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17336" y="1234440"/>
            <a:ext cx="2743200" cy="3566160"/>
          </a:xfrm>
          <a:prstGeom prst="rect">
            <a:avLst/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17336" y="1234440"/>
            <a:ext cx="274320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81928" y="1371600"/>
            <a:ext cx="438912" cy="438912"/>
          </a:xfrm>
          <a:prstGeom prst="ellipse">
            <a:avLst/>
          </a:prstGeom>
          <a:solidFill>
            <a:srgbClr val="162032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81928" y="1371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30568" y="1399032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智能體（Agent）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281928" y="186537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— 自主執行者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81928" y="2148840"/>
            <a:ext cx="2414016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81928" y="2231136"/>
            <a:ext cx="2414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將「人類決策者」替換為「LLM」——關鍵轉變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281928" y="2825496"/>
            <a:ext cx="2414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 ReAct（Reason+Act）自主規劃行動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281928" y="3419856"/>
            <a:ext cx="2414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只需提供目標，AI 自行選擇工具執行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281928" y="4014216"/>
            <a:ext cx="2414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類比：「配備工具的工程師」——給目標自行完成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218688" y="2990088"/>
            <a:ext cx="292608" cy="36576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74720" y="2944368"/>
            <a:ext cx="1645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117336" y="2990088"/>
            <a:ext cx="292608" cy="36576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73368" y="2944368"/>
            <a:ext cx="1645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框架：智能體「自己改作業」的能力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2286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61872"/>
            <a:ext cx="4023360" cy="3520440"/>
          </a:xfrm>
          <a:prstGeom prst="rect">
            <a:avLst/>
          </a:prstGeom>
          <a:solidFill>
            <a:srgbClr val="1E293B"/>
          </a:solidFill>
          <a:ln w="12700">
            <a:solidFill>
              <a:srgbClr val="2DD4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261872"/>
            <a:ext cx="4023360" cy="64008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1399032"/>
            <a:ext cx="3694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ReAct = Reason + Act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30352" y="1783080"/>
            <a:ext cx="3694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目前的標準配置框架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30352" y="2176272"/>
            <a:ext cx="3694176" cy="566928"/>
          </a:xfrm>
          <a:prstGeom prst="rect">
            <a:avLst/>
          </a:prstGeom>
          <a:solidFill>
            <a:srgbClr val="162032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0352" y="2176272"/>
            <a:ext cx="45720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22199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💭  推理 (Reason)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2478024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大腦思考當前狀態，規劃下一步策略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30352" y="2834640"/>
            <a:ext cx="3694176" cy="566928"/>
          </a:xfrm>
          <a:prstGeom prst="rect">
            <a:avLst/>
          </a:prstGeom>
          <a:solidFill>
            <a:srgbClr val="162032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0352" y="2834640"/>
            <a:ext cx="45720" cy="566928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88036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行動 (Act)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313639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自主選擇工具，調用 API 或執行指令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3493008"/>
            <a:ext cx="3694176" cy="566928"/>
          </a:xfrm>
          <a:prstGeom prst="rect">
            <a:avLst/>
          </a:prstGeom>
          <a:solidFill>
            <a:srgbClr val="162032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3493008"/>
            <a:ext cx="45720" cy="566928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53872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  觀察 (Observe)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379476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觀察環境反饋與工具執行結果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30352" y="4151376"/>
            <a:ext cx="3694176" cy="566928"/>
          </a:xfrm>
          <a:prstGeom prst="rect">
            <a:avLst/>
          </a:prstGeom>
          <a:solidFill>
            <a:srgbClr val="162032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0352" y="4151376"/>
            <a:ext cx="45720" cy="56692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19709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 迭代 (Iterate)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4453128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不斷循環直到目標達成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09160" y="1261872"/>
            <a:ext cx="4069080" cy="1481328"/>
          </a:xfrm>
          <a:prstGeom prst="rect">
            <a:avLst/>
          </a:prstGeom>
          <a:solidFill>
            <a:srgbClr val="1A2E1E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846320" y="13533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 實例：視覺 Agent 自動找「滑雪者」片段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46320" y="1719072"/>
            <a:ext cx="38404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推理：滑雪者 = 腳踩雪板在雪地飛馳的人</a:t>
            </a:r>
            <a:endParaRPr lang="en-US" sz="1050" dirty="0"/>
          </a:p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行動：搜尋影格，觀察結果，迭代優化</a:t>
            </a:r>
            <a:endParaRPr lang="en-US" sz="1050" dirty="0"/>
          </a:p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成果：無需人工標記，自主建立索引</a:t>
            </a:r>
            <a:endParaRPr lang="en-US" sz="1050" dirty="0"/>
          </a:p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延伸：若 LinkedIn 貼文不夠吸引，主動加「自我批判」步驟重寫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709160" y="2834640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四大核心要素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709160" y="3163824"/>
            <a:ext cx="969264" cy="1600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709160" y="3163824"/>
            <a:ext cx="969264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09160" y="329184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4754880" y="3712464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大腦 (LLM)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54880" y="4023360"/>
            <a:ext cx="877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理解語境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決策核心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733288" y="3163824"/>
            <a:ext cx="969264" cy="1600200"/>
          </a:xfrm>
          <a:prstGeom prst="rect">
            <a:avLst/>
          </a:prstGeom>
          <a:solidFill>
            <a:srgbClr val="1E293B"/>
          </a:solidFill>
          <a:ln w="12700">
            <a:solidFill>
              <a:srgbClr val="2DD4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733288" y="3163824"/>
            <a:ext cx="969264" cy="64008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733288" y="329184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5779008" y="3712464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規劃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779008" y="4023360"/>
            <a:ext cx="877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任務拆解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自我修正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757416" y="3163824"/>
            <a:ext cx="969264" cy="1600200"/>
          </a:xfrm>
          <a:prstGeom prst="rect">
            <a:avLst/>
          </a:prstGeom>
          <a:solidFill>
            <a:srgbClr val="1E293B"/>
          </a:solidFill>
          <a:ln w="12700">
            <a:solidFill>
              <a:srgbClr val="C084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757416" y="3163824"/>
            <a:ext cx="969264" cy="64008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57416" y="329184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6803136" y="3712464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記憶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803136" y="4023360"/>
            <a:ext cx="877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短期 Context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RAG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781544" y="3163824"/>
            <a:ext cx="969264" cy="1600200"/>
          </a:xfrm>
          <a:prstGeom prst="rect">
            <a:avLst/>
          </a:prstGeom>
          <a:solidFill>
            <a:srgbClr val="1E293B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7781544" y="3163824"/>
            <a:ext cx="969264" cy="6400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781544" y="329184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🔧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7827264" y="3712464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工具箱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827264" y="4023360"/>
            <a:ext cx="877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/ Shell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瀏覽器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工作流時代 vs 智能體時代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2286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261872"/>
            <a:ext cx="1554480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26187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時代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74520" y="1261872"/>
            <a:ext cx="2240280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65960" y="1261872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人類的角色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0" y="1261872"/>
            <a:ext cx="2240280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1261872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的角色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55080" y="1261872"/>
            <a:ext cx="2468880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261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關鍵特性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" y="1700784"/>
            <a:ext cx="1554480" cy="102412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00784"/>
            <a:ext cx="45720" cy="10241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9768" y="1737360"/>
            <a:ext cx="1353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LLM 時代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874520" y="1700784"/>
            <a:ext cx="2240280" cy="102412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84248" y="1737360"/>
            <a:ext cx="20391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提問者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（口令一個動作一個）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0" y="1700784"/>
            <a:ext cx="2240280" cy="102412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24528" y="1737360"/>
            <a:ext cx="20391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被動問答機器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（給 Prompt 產輸出）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355080" y="1700784"/>
            <a:ext cx="2468880" cy="102412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64808" y="1737360"/>
            <a:ext cx="22677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無工具調用，資訊孤島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2816352"/>
            <a:ext cx="1554480" cy="102412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" y="2816352"/>
            <a:ext cx="45720" cy="102412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9768" y="2852928"/>
            <a:ext cx="1353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工作流時代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874520" y="2816352"/>
            <a:ext cx="2240280" cy="102412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84248" y="2852928"/>
            <a:ext cx="20391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流程管理者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（細緻定義每個 if-then）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114800" y="2816352"/>
            <a:ext cx="2240280" cy="102412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24528" y="2852928"/>
            <a:ext cx="20391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固定路徑執行者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（遵循預設步驟）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355080" y="2816352"/>
            <a:ext cx="2468880" cy="102412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64808" y="2852928"/>
            <a:ext cx="22677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脆弱：偏離路徑即崩潰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0040" y="3931920"/>
            <a:ext cx="1554480" cy="1024128"/>
          </a:xfrm>
          <a:prstGeom prst="rect">
            <a:avLst/>
          </a:prstGeom>
          <a:solidFill>
            <a:srgbClr val="1A2A40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" y="3931920"/>
            <a:ext cx="45720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29768" y="3968496"/>
            <a:ext cx="1353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智能體時代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1874520" y="3931920"/>
            <a:ext cx="2240280" cy="1024128"/>
          </a:xfrm>
          <a:prstGeom prst="rect">
            <a:avLst/>
          </a:prstGeom>
          <a:solidFill>
            <a:srgbClr val="1A2A40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84248" y="3968496"/>
            <a:ext cx="20391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目標設定者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（定義最終想達成的終點）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114800" y="3931920"/>
            <a:ext cx="2240280" cy="1024128"/>
          </a:xfrm>
          <a:prstGeom prst="rect">
            <a:avLst/>
          </a:prstGeom>
          <a:solidFill>
            <a:srgbClr val="1A2A40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224528" y="3968496"/>
            <a:ext cx="20391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決策與執行者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（自主推理、觀察、達成目標）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55080" y="3931920"/>
            <a:ext cx="2468880" cy="1024128"/>
          </a:xfrm>
          <a:prstGeom prst="rect">
            <a:avLst/>
          </a:prstGeom>
          <a:solidFill>
            <a:srgbClr val="1A2A40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64808" y="3968496"/>
            <a:ext cx="22677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自主規劃，HITL 把關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20040" y="4828032"/>
            <a:ext cx="8503920" cy="365760"/>
          </a:xfrm>
          <a:prstGeom prst="rect">
            <a:avLst/>
          </a:prstGeom>
          <a:solidFill>
            <a:srgbClr val="2A1A0A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1480" y="48280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RAG ≠ Agent：RAG 的核心是「檢索（Retrieval）」找資訊；Agent 的核心是「推理（Reasoning）」——從一開始就自己決定要找什麼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AI Agent 介紹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5727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agency-agents  ·  msitarzewski  ·  100+ 個專業 Agent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2103120"/>
            <a:ext cx="1965960" cy="2651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2103120"/>
            <a:ext cx="1965960" cy="6400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228600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🎯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289864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專業化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7355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3584448"/>
            <a:ext cx="1691640" cy="2286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675888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個領域專業代理人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487168" y="2103120"/>
            <a:ext cx="1965960" cy="2651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87168" y="2103120"/>
            <a:ext cx="1965960" cy="6400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87168" y="228600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🧩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2578608" y="289864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性格驅動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578608" y="327355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Personality-Driven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624328" y="3584448"/>
            <a:ext cx="1691640" cy="2286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78608" y="3675888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獨特口吻與思考邏輯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08576" y="2103120"/>
            <a:ext cx="1965960" cy="2651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08576" y="2103120"/>
            <a:ext cx="1965960" cy="6400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08576" y="228600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📦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4700016" y="289864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成果導向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700016" y="327355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Deliverable-Focused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45736" y="3584448"/>
            <a:ext cx="1691640" cy="2286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00016" y="3675888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產出代碼、策略或文件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729984" y="2103120"/>
            <a:ext cx="1965960" cy="2651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29984" y="2103120"/>
            <a:ext cx="1965960" cy="6400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29984" y="228600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🚀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6821424" y="289864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即戰力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821424" y="327355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67144" y="3584448"/>
            <a:ext cx="1691640" cy="2286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21424" y="3675888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內建工作流與成功指標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為什麼它算是 AI Agent？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2286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34440"/>
            <a:ext cx="411480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234440"/>
            <a:ext cx="54864" cy="1691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13441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97280" y="13624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轉變思維：問答 → 自主規劃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30352" y="1783080"/>
            <a:ext cx="3785616" cy="16459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1856232"/>
            <a:ext cx="37856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內含 Workflow 與 Critical Rules，LLM 讀取後啟動多步驟思考，主動規劃步驟，而非字面回答——這種自主規劃行為正是 Agent 的核心特徵。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09160" y="1234440"/>
            <a:ext cx="411480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2DD4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1234440"/>
            <a:ext cx="54864" cy="169164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73752" y="13441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440680" y="13624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定義環境邊界與工具（Tools）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873752" y="1783080"/>
            <a:ext cx="3785616" cy="16459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73752" y="1856232"/>
            <a:ext cx="37856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透過 convert.sh 注入 Cursor / Claude Code 後，LLM 獲得讀寫代碼庫的「行動能力」，成為完整的工具箱 Agent，可操作本地文件與執行終端指令。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3108960"/>
            <a:ext cx="411480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C084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3108960"/>
            <a:ext cx="54864" cy="1691640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32186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097280" y="323697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動態反思（Reflection）機制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30352" y="3657600"/>
            <a:ext cx="3785616" cy="16459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3730752"/>
            <a:ext cx="37856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 Agent 有 Success Metrics，輸出前後對照指標進行自我審查（Self-Correction），而非一次性輸出結果——符合 Agent 架構的 Reflection 機制。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09160" y="3108960"/>
            <a:ext cx="411480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3108960"/>
            <a:ext cx="54864" cy="16916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73752" y="32186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440680" y="323697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多代理協同（Multi-Agent System）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4873752" y="3657600"/>
            <a:ext cx="3785616" cy="16459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73752" y="3730752"/>
            <a:ext cx="37856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個 Agent 共享標準化接口：Architect 輸出的 Spec 成為 Developer 的輸入，透過共享上下文形成跨 Agent 的協作鏈——即 Agency（代理機構）。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個最有趣的 Agents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2286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234440"/>
            <a:ext cx="1600200" cy="3566160"/>
          </a:xfrm>
          <a:prstGeom prst="rect">
            <a:avLst/>
          </a:prstGeom>
          <a:solidFill>
            <a:srgbClr val="1E293B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34440"/>
            <a:ext cx="1600200" cy="64008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371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😈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3192" y="1993392"/>
            <a:ext cx="1453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惡魔代言人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93192" y="2377440"/>
            <a:ext cx="1453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Devil's Advocate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9768" y="2670048"/>
            <a:ext cx="1380744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761488"/>
            <a:ext cx="14173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唯一任務就是「反駁你」——找出方案中所有漏洞、風險與盲點，是避免集體盲思（Groupthink）的神器。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029968" y="1234440"/>
            <a:ext cx="1600200" cy="3566160"/>
          </a:xfrm>
          <a:prstGeom prst="rect">
            <a:avLst/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29968" y="1234440"/>
            <a:ext cx="160020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29968" y="1371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🛡️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2103120" y="1993392"/>
            <a:ext cx="1453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品牌守護者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103120" y="2377440"/>
            <a:ext cx="1453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Guardian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139696" y="2670048"/>
            <a:ext cx="1380744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21408" y="2761488"/>
            <a:ext cx="14173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偏執狂品牌總監，用放大鏡檢查所有內容的視覺、語氣是否符合品牌設定，稍有偏離立刻跳出糾正。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739896" y="1234440"/>
            <a:ext cx="1600200" cy="3566160"/>
          </a:xfrm>
          <a:prstGeom prst="rect">
            <a:avLst/>
          </a:prstGeom>
          <a:solidFill>
            <a:srgbClr val="1E293B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39896" y="1234440"/>
            <a:ext cx="1600200" cy="6400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39896" y="1371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🦄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3813048" y="1993392"/>
            <a:ext cx="1453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大師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813048" y="2377440"/>
            <a:ext cx="1453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Guru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49624" y="2670048"/>
            <a:ext cx="1380744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31336" y="2761488"/>
            <a:ext cx="14173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精通各 Subreddit 潛規則，把產品宣傳包裝成看起來像路人分享的爆款文章，讓廣告消失於社群。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49824" y="1234440"/>
            <a:ext cx="1600200" cy="3566160"/>
          </a:xfrm>
          <a:prstGeom prst="rect">
            <a:avLst/>
          </a:prstGeom>
          <a:solidFill>
            <a:srgbClr val="1E293B"/>
          </a:solidFill>
          <a:ln w="12700">
            <a:solidFill>
              <a:srgbClr val="C084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49824" y="1234440"/>
            <a:ext cx="1600200" cy="64008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49824" y="1371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💀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5522976" y="1993392"/>
            <a:ext cx="1453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程式碼死神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522976" y="2377440"/>
            <a:ext cx="1453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Grim Reaper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59552" y="2670048"/>
            <a:ext cx="1380744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41264" y="2761488"/>
            <a:ext cx="14173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座右銘「沒有程式碼是最好的程式碼」，瘋狂刪除冗餘代碼，讓你的專案行數少一大半。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159752" y="1234440"/>
            <a:ext cx="1600200" cy="3566160"/>
          </a:xfrm>
          <a:prstGeom prst="rect">
            <a:avLst/>
          </a:prstGeom>
          <a:solidFill>
            <a:srgbClr val="1E293B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59752" y="1234440"/>
            <a:ext cx="1600200" cy="6400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59752" y="1371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💰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7232904" y="1993392"/>
            <a:ext cx="1453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簡報黑客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232904" y="2377440"/>
            <a:ext cx="1453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Deck Hacker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69480" y="2670048"/>
            <a:ext cx="1380744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51192" y="2761488"/>
            <a:ext cx="14173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把複雜技術翻譯成 VC 聽得懂且興奮的商業故事，用 10 張投影片拿到投資人的錢。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  ·  AGENT SPOTLIGHT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 Software Architect Agent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2286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61872"/>
            <a:ext cx="4023360" cy="896112"/>
          </a:xfrm>
          <a:prstGeom prst="rect">
            <a:avLst/>
          </a:prstGeom>
          <a:solidFill>
            <a:srgbClr val="1A2440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35331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身份定義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6276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戰略型 · 務實主義 · 熟悉 Trade-off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設計讓「接手的新團隊也能維護」的系統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223113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核心使命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523744"/>
            <a:ext cx="4023360" cy="4206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596896"/>
            <a:ext cx="274320" cy="27432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596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22960" y="256946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建模：Bounded Context、Aggregate、Domain Event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2999232"/>
            <a:ext cx="4023360" cy="4206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072384"/>
            <a:ext cx="274320" cy="27432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2960" y="304495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架構選型：Monolith vs Microservices vs Event-Driven vs CQRS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5760" y="3474720"/>
            <a:ext cx="4023360" cy="4206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547872"/>
            <a:ext cx="274320" cy="27432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5478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22960" y="35204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分析：一致性 vs 可用性、耦合 vs 複製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65760" y="3950208"/>
            <a:ext cx="4023360" cy="4206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4023360"/>
            <a:ext cx="274320" cy="27432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023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22960" y="399592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技術決策記錄：捕捉 WHY，不只是 WHAT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65760" y="4425696"/>
            <a:ext cx="4023360" cy="4206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4498848"/>
            <a:ext cx="274320" cy="27432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498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22960" y="447141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演化策略：系統如何成長而不需要全面重寫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09160" y="1261872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架構選型矩陣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709160" y="1581912"/>
            <a:ext cx="1417320" cy="3017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1581912"/>
            <a:ext cx="1325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架構模式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26480" y="1581912"/>
            <a:ext cx="1325880" cy="3017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72200" y="1581912"/>
            <a:ext cx="1234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何時使用 ✅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452360" y="1581912"/>
            <a:ext cx="1325880" cy="3017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98080" y="1581912"/>
            <a:ext cx="1234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何時避免 ❌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709160" y="1920240"/>
            <a:ext cx="1417320" cy="411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82312" y="1947672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Monolith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126480" y="1920240"/>
            <a:ext cx="1325880" cy="411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99632" y="1947672"/>
            <a:ext cx="1179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小團隊、邊界不明確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452360" y="1920240"/>
            <a:ext cx="1325880" cy="411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525512" y="1947672"/>
            <a:ext cx="1179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需獨立擴展時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709160" y="2377440"/>
            <a:ext cx="1417320" cy="411480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82312" y="2404872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126480" y="2377440"/>
            <a:ext cx="1325880" cy="411480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199632" y="2404872"/>
            <a:ext cx="1179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清晰 Domain、團隊自治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452360" y="2377440"/>
            <a:ext cx="1325880" cy="411480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525512" y="2404872"/>
            <a:ext cx="1179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小團隊早期產品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709160" y="2834640"/>
            <a:ext cx="1417320" cy="411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82312" y="2862072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126480" y="2834640"/>
            <a:ext cx="1325880" cy="411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199632" y="2862072"/>
            <a:ext cx="1179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鬆耦合、異步工作流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7452360" y="2834640"/>
            <a:ext cx="1325880" cy="411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25512" y="2862072"/>
            <a:ext cx="1179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需強一致性時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709160" y="3291840"/>
            <a:ext cx="1417320" cy="411480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82312" y="3319272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CQRS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126480" y="3291840"/>
            <a:ext cx="1325880" cy="411480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99632" y="3319272"/>
            <a:ext cx="1179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讀寫不對稱、複雜查詢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452360" y="3291840"/>
            <a:ext cx="1325880" cy="411480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525512" y="3319272"/>
            <a:ext cx="1179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簡單 CRUD 場景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709160" y="384048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關鍵原則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4709160" y="4133088"/>
            <a:ext cx="406908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709160" y="4133088"/>
            <a:ext cx="54864" cy="34747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818888" y="4160520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不做「架構宇航員」：每個抽象必須能證明其複雜度代價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709160" y="4535424"/>
            <a:ext cx="406908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709160" y="4535424"/>
            <a:ext cx="54864" cy="34747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818888" y="4562856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優先於最佳實踐：說清楚放棄了什麼，不只說得到了什麼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4709160" y="4937760"/>
            <a:ext cx="406908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709160" y="4937760"/>
            <a:ext cx="54864" cy="34747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818888" y="496519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可逆性優先於最優：偏好容易改變的決策而非看起來最優的決策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  ·  AGENT SPOTLIGHT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  Code Reviewer Agent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2286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61872"/>
            <a:ext cx="4023360" cy="896112"/>
          </a:xfrm>
          <a:prstGeom prst="rect">
            <a:avLst/>
          </a:prstGeom>
          <a:solidFill>
            <a:srgbClr val="1E1A2E"/>
          </a:solidFill>
          <a:ln w="12700">
            <a:solidFill>
              <a:srgbClr val="C084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35331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身份定義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6276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建設性 · 徹底 · 教育導向 · 尊重開發者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像「導師」而非「守門人」，每個評論都在傳授知識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223113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核心使命（優先順序）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523744"/>
            <a:ext cx="4023360" cy="4206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56032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正確性：程式碼是否做了它應該做的事？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999232"/>
            <a:ext cx="4023360" cy="4206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303580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安全性：是否有漏洞？輸入驗證？Auth 檢查？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474720"/>
            <a:ext cx="4023360" cy="4206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51129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可維護性：6 個月後別人能否理解這段代碼？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950208"/>
            <a:ext cx="4023360" cy="4206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986784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效能：是否有明顯瓶頸或 N+1 查詢問題？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4425696"/>
            <a:ext cx="4023360" cy="4206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4462272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 測試覆蓋：重要路徑是否都有測試？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09160" y="1261872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審查清單（優先級標記）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09160" y="1581912"/>
            <a:ext cx="4069080" cy="274320"/>
          </a:xfrm>
          <a:prstGeom prst="rect">
            <a:avLst/>
          </a:prstGeom>
          <a:solidFill>
            <a:srgbClr val="161F2E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18888" y="1600200"/>
            <a:ext cx="3849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 Blocker（必須修）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09160" y="1874520"/>
            <a:ext cx="4069080" cy="26517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09160" y="1874520"/>
            <a:ext cx="54864" cy="265176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18888" y="1901952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安全漏洞（注入、XSS、Auth 繞過）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09160" y="2157984"/>
            <a:ext cx="4069080" cy="26517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09160" y="2157984"/>
            <a:ext cx="54864" cy="265176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18888" y="2185416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數據丟失或損壞風險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09160" y="2441448"/>
            <a:ext cx="4069080" cy="26517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09160" y="2441448"/>
            <a:ext cx="54864" cy="265176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18888" y="2468880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Race Condition 或 Deadlock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709160" y="2724912"/>
            <a:ext cx="4069080" cy="26517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09160" y="2724912"/>
            <a:ext cx="54864" cy="265176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18888" y="2752344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API 合約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09160" y="3063240"/>
            <a:ext cx="4069080" cy="274320"/>
          </a:xfrm>
          <a:prstGeom prst="rect">
            <a:avLst/>
          </a:prstGeom>
          <a:solidFill>
            <a:srgbClr val="161F2E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18888" y="3081528"/>
            <a:ext cx="3849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 Suggestion（應該修）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709160" y="3355848"/>
            <a:ext cx="4069080" cy="26517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09160" y="3355848"/>
            <a:ext cx="54864" cy="265176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18888" y="3383280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缺少輸入驗證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709160" y="3639312"/>
            <a:ext cx="4069080" cy="26517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09160" y="3639312"/>
            <a:ext cx="54864" cy="265176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18888" y="3666744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命名不清或邏輯混亂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709160" y="3922776"/>
            <a:ext cx="4069080" cy="26517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09160" y="3922776"/>
            <a:ext cx="54864" cy="265176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18888" y="3950208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重要行為缺少測試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709160" y="4206240"/>
            <a:ext cx="4069080" cy="26517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709160" y="4206240"/>
            <a:ext cx="54864" cy="265176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18888" y="4233672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N+1 查詢、效能問題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709160" y="4544568"/>
            <a:ext cx="4069080" cy="274320"/>
          </a:xfrm>
          <a:prstGeom prst="rect">
            <a:avLst/>
          </a:prstGeom>
          <a:solidFill>
            <a:srgbClr val="161F2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18888" y="4562856"/>
            <a:ext cx="3849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💭  Nit（加分項）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4709160" y="4837176"/>
            <a:ext cx="4069080" cy="26517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709160" y="4837176"/>
            <a:ext cx="54864" cy="2651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18888" y="4864608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輕微命名改善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4709160" y="5120640"/>
            <a:ext cx="4069080" cy="26517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709160" y="5120640"/>
            <a:ext cx="54864" cy="2651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18888" y="5148072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文件缺口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4709160" y="5404104"/>
            <a:ext cx="4069080" cy="26517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709160" y="5404104"/>
            <a:ext cx="54864" cy="2651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18888" y="5431536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值得考慮的替代方案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4709160" y="5742432"/>
            <a:ext cx="4069080" cy="566928"/>
          </a:xfrm>
          <a:prstGeom prst="rect">
            <a:avLst/>
          </a:prstGeom>
          <a:solidFill>
            <a:srgbClr val="1A0F0F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18888" y="5797296"/>
            <a:ext cx="3849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 Security: SQL Injection  |  Line 42: 輸入直接拼接 SQL</a:t>
            </a:r>
            <a:endParaRPr lang="en-US" sz="950" dirty="0"/>
          </a:p>
          <a:p>
            <a:pPr indent="0" marL="0">
              <a:lnSpc>
                <a:spcPct val="1380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建議：改用 parameterized query</a:t>
            </a:r>
            <a:endParaRPr lang="en-US" sz="950" dirty="0"/>
          </a:p>
          <a:p>
            <a:pPr indent="0" marL="0">
              <a:lnSpc>
                <a:spcPct val="1380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db.query('SELECT * FROM users WHERE id=$1', [id])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為何效果不好？4 大痛點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2286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34440"/>
            <a:ext cx="8412480" cy="84124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234440"/>
            <a:ext cx="54864" cy="841248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128930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痛點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353312" y="1289304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上下文污染（Context Pollution）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30352" y="1636776"/>
            <a:ext cx="822960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170992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串聯/星狀架構：每個 Agent 只讀當前任務相關的 Context；輸出固化為靜態 Spec 作為下一個 Agent 的輸入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2203704"/>
            <a:ext cx="8412480" cy="84124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203704"/>
            <a:ext cx="54864" cy="84124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225856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痛點 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353312" y="22585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職責模糊：過度擬人化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30352" y="2606040"/>
            <a:ext cx="822960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0352" y="26791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用 I/O Schema 取代性格描述：輸出必須是標準 JSON，包含 status(APPROVED/REJECTED) / bugs[] / review_comments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3172968"/>
            <a:ext cx="8412480" cy="84124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3172968"/>
            <a:ext cx="54864" cy="841248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3227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痛點 3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353312" y="322783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缺乏客觀真相環境（Ground Truth）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30352" y="3575304"/>
            <a:ext cx="822960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3648456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引入自動化 Tooling 作為裁判：自動執行 pytest / npm test，把 Terminal 錯誤訊息直接餵回給 Developer Agent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4142232"/>
            <a:ext cx="8412480" cy="84124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5760" y="4142232"/>
            <a:ext cx="54864" cy="84124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0352" y="419709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痛點 4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353312" y="4197096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動態路由失控（無窮迴圈）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30352" y="4544568"/>
            <a:ext cx="822960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0352" y="461772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退回靜態工作流（Deterministic Workflow）：Python/Node.js 硬編碼流程，失敗最多重試 3 次，再轉 Human-in-the-loop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 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自建 Agent 實踐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5727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值班人員 Agent (onduty.md)  ·  GitOps VM 支援系統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0040" y="2057400"/>
            <a:ext cx="4114800" cy="676656"/>
          </a:xfrm>
          <a:prstGeom prst="rect">
            <a:avLst/>
          </a:prstGeom>
          <a:solidFill>
            <a:srgbClr val="1E293B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2057400"/>
            <a:ext cx="54864" cy="676656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211226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  角色/大腦 (Persona/Brain)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75488" y="2368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聰明萬能的值班人員，熟悉 GitOps VM 流程，熱心助人，同樣的錯誤不會犯第二次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" y="2816352"/>
            <a:ext cx="4114800" cy="676656"/>
          </a:xfrm>
          <a:prstGeom prst="rect">
            <a:avLst/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816352"/>
            <a:ext cx="54864" cy="67665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" y="287121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  感知 (Perception)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5488" y="312724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解讀 VM 種類（VMware/tVM）、問題描述、廠區（FAB）等每一個明確與隱含訊號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3575304"/>
            <a:ext cx="4114800" cy="676656"/>
          </a:xfrm>
          <a:prstGeom prst="rect">
            <a:avLst/>
          </a:prstGeom>
          <a:solidFill>
            <a:srgbClr val="1E293B"/>
          </a:solidFill>
          <a:ln w="12700">
            <a:solidFill>
              <a:srgbClr val="2DD4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3575304"/>
            <a:ext cx="54864" cy="676656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363016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 規劃 (Planning)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" y="38862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先問清楚：廠區？Cloud Type？發生了什麼？錯誤訊息？確保資訊完整後才給方案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334256"/>
            <a:ext cx="4114800" cy="676656"/>
          </a:xfrm>
          <a:prstGeom prst="rect">
            <a:avLst/>
          </a:prstGeom>
          <a:solidFill>
            <a:srgbClr val="1E293B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4334256"/>
            <a:ext cx="54864" cy="676656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438912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行動 (Action)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" y="464515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輸出格式：報案內容 + VM name + job id + 解決方案，使用者反駁則立即更新模型給新推薦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09160" y="2057400"/>
            <a:ext cx="4069080" cy="1170432"/>
          </a:xfrm>
          <a:prstGeom prst="rect">
            <a:avLst/>
          </a:prstGeom>
          <a:solidFill>
            <a:srgbClr val="2A1818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214884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知識領域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46320" y="2468880"/>
            <a:ext cx="1188720" cy="292608"/>
          </a:xfrm>
          <a:prstGeom prst="rect">
            <a:avLst/>
          </a:prstGeom>
          <a:solidFill>
            <a:srgbClr val="3A1A1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24688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VM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26480" y="2468880"/>
            <a:ext cx="1188720" cy="292608"/>
          </a:xfrm>
          <a:prstGeom prst="rect">
            <a:avLst/>
          </a:prstGeom>
          <a:solidFill>
            <a:srgbClr val="3A1A1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0" y="24688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Management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406640" y="2468880"/>
            <a:ext cx="1188720" cy="292608"/>
          </a:xfrm>
          <a:prstGeom prst="rect">
            <a:avLst/>
          </a:prstGeom>
          <a:solidFill>
            <a:srgbClr val="3A1A1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06640" y="24688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VMware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46320" y="2834640"/>
            <a:ext cx="1188720" cy="292608"/>
          </a:xfrm>
          <a:prstGeom prst="rect">
            <a:avLst/>
          </a:prstGeom>
          <a:solidFill>
            <a:srgbClr val="3A1A1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28346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DFW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26480" y="2834640"/>
            <a:ext cx="1188720" cy="292608"/>
          </a:xfrm>
          <a:prstGeom prst="rect">
            <a:avLst/>
          </a:prstGeom>
          <a:solidFill>
            <a:srgbClr val="3A1A1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28346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09160" y="3337560"/>
            <a:ext cx="4069080" cy="1417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846320" y="342900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回覆格式（Action Output）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846320" y="3730752"/>
            <a:ext cx="3794760" cy="932688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37760" y="3776472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報案內容：[針對情境的具體說明]</a:t>
            </a:r>
            <a:endParaRPr lang="en-US" sz="1050" dirty="0"/>
          </a:p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name：[vm-fab12-001]</a:t>
            </a:r>
            <a:endParaRPr lang="en-US" sz="1050" dirty="0"/>
          </a:p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id：[job-20250520-abc]</a:t>
            </a:r>
            <a:endParaRPr lang="en-US" sz="1050" dirty="0"/>
          </a:p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解決方案：[逐步可執行的修復步驟]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709160" y="4828032"/>
            <a:ext cx="4069080" cy="347472"/>
          </a:xfrm>
          <a:prstGeom prst="rect">
            <a:avLst/>
          </a:prstGeom>
          <a:solidFill>
            <a:srgbClr val="1A2A1A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18888" y="482803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工具：可使用 TKMS MCP 搜尋解決方案  |  失敗時請人為介入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值班人員 Agent：感知 → 規劃 → 行動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2286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61872"/>
            <a:ext cx="4023360" cy="292608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261872"/>
            <a:ext cx="3803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  感知（Perception）— 明確訊號解析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581912"/>
            <a:ext cx="1188720" cy="274320"/>
          </a:xfrm>
          <a:prstGeom prst="rect">
            <a:avLst/>
          </a:prstGeom>
          <a:solidFill>
            <a:srgbClr val="2A1818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" y="158191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輸入類型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554480" y="1581912"/>
            <a:ext cx="1417320" cy="274320"/>
          </a:xfrm>
          <a:prstGeom prst="rect">
            <a:avLst/>
          </a:prstGeom>
          <a:solidFill>
            <a:srgbClr val="2A1818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09344" y="1581912"/>
            <a:ext cx="1307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範例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971800" y="1581912"/>
            <a:ext cx="1417320" cy="274320"/>
          </a:xfrm>
          <a:prstGeom prst="rect">
            <a:avLst/>
          </a:prstGeom>
          <a:solidFill>
            <a:srgbClr val="2A1818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26664" y="1581912"/>
            <a:ext cx="1307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提取資訊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1892808"/>
            <a:ext cx="1188720" cy="30175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1929384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種類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554480" y="1892808"/>
            <a:ext cx="1417320" cy="30175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627632" y="1929384"/>
            <a:ext cx="1271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VMware / tVM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971800" y="1892808"/>
            <a:ext cx="1417320" cy="30175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44952" y="1929384"/>
            <a:ext cx="1271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確認底層虛擬化技術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240280"/>
            <a:ext cx="1188720" cy="301752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8912" y="2276856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問題描述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554480" y="2240280"/>
            <a:ext cx="1417320" cy="301752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27632" y="2276856"/>
            <a:ext cx="1271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provision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971800" y="2240280"/>
            <a:ext cx="1417320" cy="301752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4952" y="2276856"/>
            <a:ext cx="1271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定義故障類型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2587752"/>
            <a:ext cx="1188720" cy="30175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8912" y="2624328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廠區資訊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554480" y="2587752"/>
            <a:ext cx="1417320" cy="30175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627632" y="2624328"/>
            <a:ext cx="1271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FAB12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971800" y="2587752"/>
            <a:ext cx="1417320" cy="30175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044952" y="2624328"/>
            <a:ext cx="1271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縮小排查範圍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5760" y="2935224"/>
            <a:ext cx="1188720" cy="301752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" y="2971800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錯誤訊息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554480" y="2935224"/>
            <a:ext cx="1417320" cy="301752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627632" y="2971800"/>
            <a:ext cx="1271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id / log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971800" y="2935224"/>
            <a:ext cx="1417320" cy="301752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44952" y="2971800"/>
            <a:ext cx="1271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直接定位根因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65760" y="3346704"/>
            <a:ext cx="4023360" cy="292608"/>
          </a:xfrm>
          <a:prstGeom prst="rect">
            <a:avLst/>
          </a:prstGeom>
          <a:solidFill>
            <a:srgbClr val="2A1818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" y="3346704"/>
            <a:ext cx="3803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 規劃（Planning）— 第一步先問清楚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65760" y="3675888"/>
            <a:ext cx="4023360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3730752"/>
            <a:ext cx="219456" cy="219456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37307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68096" y="3749040"/>
            <a:ext cx="3529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發生在哪個廠區？（FAB?）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65760" y="4041648"/>
            <a:ext cx="4023360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7200" y="4096512"/>
            <a:ext cx="219456" cy="219456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09651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68096" y="4114800"/>
            <a:ext cx="3529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哪一種 Cloud Type？（VMware / tVM）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365760" y="4407408"/>
            <a:ext cx="4023360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7200" y="4462272"/>
            <a:ext cx="219456" cy="219456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44622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8096" y="4480560"/>
            <a:ext cx="3529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發生了什麼事情？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365760" y="4773168"/>
            <a:ext cx="4023360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7200" y="4828032"/>
            <a:ext cx="219456" cy="219456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48280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68096" y="4846320"/>
            <a:ext cx="3529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錯誤訊息是什麼？（job id / log）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709160" y="1261872"/>
            <a:ext cx="4069080" cy="292608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18888" y="1261872"/>
            <a:ext cx="3849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行動（Action）— 回覆結構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09160" y="1600200"/>
            <a:ext cx="4069080" cy="402336"/>
          </a:xfrm>
          <a:prstGeom prst="rect">
            <a:avLst/>
          </a:prstGeom>
          <a:solidFill>
            <a:srgbClr val="1E293B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709160" y="1600200"/>
            <a:ext cx="54864" cy="402336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846320" y="162763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報案內容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4846320" y="182880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針對使用者情境的一句具體說明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4709160" y="2057400"/>
            <a:ext cx="4069080" cy="402336"/>
          </a:xfrm>
          <a:prstGeom prst="rect">
            <a:avLst/>
          </a:prstGeom>
          <a:solidFill>
            <a:srgbClr val="1E293B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709160" y="2057400"/>
            <a:ext cx="54864" cy="402336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846320" y="208483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name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4846320" y="228600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虛擬機器名稱（例：fab12-tvm-001）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709160" y="2514600"/>
            <a:ext cx="4069080" cy="402336"/>
          </a:xfrm>
          <a:prstGeom prst="rect">
            <a:avLst/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709160" y="2514600"/>
            <a:ext cx="54864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46320" y="254203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id</a:t>
            </a:r>
            <a:endParaRPr lang="en-US" sz="1150" dirty="0"/>
          </a:p>
        </p:txBody>
      </p:sp>
      <p:sp>
        <p:nvSpPr>
          <p:cNvPr id="69" name="Text 67"/>
          <p:cNvSpPr/>
          <p:nvPr/>
        </p:nvSpPr>
        <p:spPr>
          <a:xfrm>
            <a:off x="4846320" y="274320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工作任務 ID，用於追蹤問題根因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4709160" y="2971800"/>
            <a:ext cx="4069080" cy="402336"/>
          </a:xfrm>
          <a:prstGeom prst="rect">
            <a:avLst/>
          </a:prstGeom>
          <a:solidFill>
            <a:srgbClr val="1E293B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709160" y="2971800"/>
            <a:ext cx="54864" cy="40233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846320" y="299923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解決方案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4846320" y="320040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逐步提供可執行的修復步驟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4709160" y="3474720"/>
            <a:ext cx="4069080" cy="292608"/>
          </a:xfrm>
          <a:prstGeom prst="rect">
            <a:avLst/>
          </a:prstGeom>
          <a:solidFill>
            <a:srgbClr val="2A1818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818888" y="3474720"/>
            <a:ext cx="3849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回饋精煉規則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4709160" y="3803904"/>
            <a:ext cx="4069080" cy="33832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709160" y="3803904"/>
            <a:ext cx="54864" cy="338328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818888" y="384048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使用者反駁 → 把反駁視為新感知資料，更新模型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709160" y="4187952"/>
            <a:ext cx="4069080" cy="33832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09160" y="4187952"/>
            <a:ext cx="54864" cy="338328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818888" y="422452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不重新解釋被否決的選項，立即給出修正推薦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4709160" y="4572000"/>
            <a:ext cx="4069080" cy="33832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709160" y="4572000"/>
            <a:ext cx="54864" cy="338328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818888" y="460857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使用者執行後回來 → 詢問評價，更新偏好檔案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4709160" y="4956048"/>
            <a:ext cx="4069080" cy="33832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709160" y="4956048"/>
            <a:ext cx="54864" cy="33832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818888" y="4992624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工具：使用 TKMS MCP 搜尋解決方案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 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組建自己的團隊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5727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main.py + run_now.py  ·  Brainstorm → Architect → Developer → Reviewer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0040" y="2084832"/>
            <a:ext cx="2011680" cy="2423160"/>
          </a:xfrm>
          <a:prstGeom prst="rect">
            <a:avLst/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2084832"/>
            <a:ext cx="201168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217627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🧠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11480" y="28346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3090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438144"/>
            <a:ext cx="173736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3511296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多輪互動問答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引導生成 spec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儲存至文件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350008" y="3273552"/>
            <a:ext cx="274320" cy="36576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87752" y="3236976"/>
            <a:ext cx="1645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468880" y="2084832"/>
            <a:ext cx="2011680" cy="2423160"/>
          </a:xfrm>
          <a:prstGeom prst="rect">
            <a:avLst/>
          </a:prstGeom>
          <a:solidFill>
            <a:srgbClr val="1E293B"/>
          </a:solidFill>
          <a:ln w="12700">
            <a:solidFill>
              <a:srgbClr val="2DD4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468880" y="2084832"/>
            <a:ext cx="2011680" cy="64008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68880" y="217627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🏛️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2560320" y="28346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60320" y="3090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2606040" y="3438144"/>
            <a:ext cx="173736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60320" y="3511296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解析 spec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規劃目錄結構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輸出 JSON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498848" y="3273552"/>
            <a:ext cx="274320" cy="36576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36592" y="3236976"/>
            <a:ext cx="1645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17720" y="2084832"/>
            <a:ext cx="2011680" cy="2423160"/>
          </a:xfrm>
          <a:prstGeom prst="rect">
            <a:avLst/>
          </a:prstGeom>
          <a:solidFill>
            <a:srgbClr val="1E293B"/>
          </a:solidFill>
          <a:ln w="12700">
            <a:solidFill>
              <a:srgbClr val="C084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17720" y="2084832"/>
            <a:ext cx="2011680" cy="64008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0" y="217627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💻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4709160" y="28346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709160" y="3090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Developer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4754880" y="3438144"/>
            <a:ext cx="173736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09160" y="3511296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逐檔生成代碼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最多 3 次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自動修正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647688" y="3273552"/>
            <a:ext cx="274320" cy="36576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85432" y="3236976"/>
            <a:ext cx="1645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766560" y="2084832"/>
            <a:ext cx="2011680" cy="2423160"/>
          </a:xfrm>
          <a:prstGeom prst="rect">
            <a:avLst/>
          </a:prstGeom>
          <a:solidFill>
            <a:srgbClr val="1E293B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766560" y="2084832"/>
            <a:ext cx="2011680" cy="6400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0" y="217627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🔍</a:t>
            </a:r>
            <a:endParaRPr lang="en-US" sz="3200" dirty="0"/>
          </a:p>
        </p:txBody>
      </p:sp>
      <p:sp>
        <p:nvSpPr>
          <p:cNvPr id="36" name="Text 34"/>
          <p:cNvSpPr/>
          <p:nvPr/>
        </p:nvSpPr>
        <p:spPr>
          <a:xfrm>
            <a:off x="6858000" y="28346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858000" y="3090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Reviewer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6903720" y="3438144"/>
            <a:ext cx="173736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511296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審查輸出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通過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退件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流程圖：main.py 與 run_now.py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2286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261872"/>
            <a:ext cx="1417320" cy="530352"/>
          </a:xfrm>
          <a:prstGeom prst="rect">
            <a:avLst/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9184" y="1298448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輸入需求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91640" y="1513332"/>
            <a:ext cx="228600" cy="274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20240" y="1261872"/>
            <a:ext cx="2286000" cy="530352"/>
          </a:xfrm>
          <a:prstGeom prst="rect">
            <a:avLst/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75104" y="1298448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（多輪 Q&amp;A）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920240" y="181051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互動問答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6240" y="1513332"/>
            <a:ext cx="228600" cy="274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34840" y="1261872"/>
            <a:ext cx="1645920" cy="530352"/>
          </a:xfrm>
          <a:prstGeom prst="rect">
            <a:avLst/>
          </a:prstGeom>
          <a:solidFill>
            <a:srgbClr val="1E293B"/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9704" y="1298448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[SPEC_READY]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觸發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0760" y="1513332"/>
            <a:ext cx="228600" cy="274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2560320" cy="530352"/>
          </a:xfrm>
          <a:prstGeom prst="rect">
            <a:avLst/>
          </a:prstGeom>
          <a:solidFill>
            <a:srgbClr val="1E293B"/>
          </a:solidFill>
          <a:ln w="19050">
            <a:solidFill>
              <a:srgbClr val="2DD4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4224" y="1298448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儲存至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docs/superpowers/specs/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(run_now.py 可跳過此步)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575804" y="1792224"/>
            <a:ext cx="27432" cy="29260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2084832"/>
            <a:ext cx="6492240" cy="566928"/>
          </a:xfrm>
          <a:prstGeom prst="rect">
            <a:avLst/>
          </a:prstGeom>
          <a:solidFill>
            <a:srgbClr val="1E293B"/>
          </a:solidFill>
          <a:ln w="19050">
            <a:solidFill>
              <a:srgbClr val="2DD4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40864" y="2121408"/>
            <a:ext cx="63825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 Software Architect  →  解析 spec → 規劃 project_name + files[] 目錄結構 JSON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04004" y="1865376"/>
            <a:ext cx="27432" cy="219456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18404" y="2651760"/>
            <a:ext cx="27432" cy="29260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4320" y="2944368"/>
            <a:ext cx="8595360" cy="1938528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2962656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file in spec.files  （最多重試 3 次）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255264"/>
            <a:ext cx="2560320" cy="566928"/>
          </a:xfrm>
          <a:prstGeom prst="rect">
            <a:avLst/>
          </a:prstGeom>
          <a:solidFill>
            <a:srgbClr val="1E293B"/>
          </a:solidFill>
          <a:ln w="19050">
            <a:solidFill>
              <a:srgbClr val="C084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" y="3291840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 Senior Developer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生成完整程式碼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999232" y="3525012"/>
            <a:ext cx="274320" cy="274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73552" y="3255264"/>
            <a:ext cx="2834640" cy="566928"/>
          </a:xfrm>
          <a:prstGeom prst="rect">
            <a:avLst/>
          </a:prstGeom>
          <a:solidFill>
            <a:srgbClr val="1E293B"/>
          </a:solidFill>
          <a:ln w="19050">
            <a:solidFill>
              <a:srgbClr val="FCD3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28416" y="3291840"/>
            <a:ext cx="27249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 Code Reviewer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審查代碼品質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08192" y="3525012"/>
            <a:ext cx="274320" cy="274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82512" y="3255264"/>
            <a:ext cx="1097280" cy="566928"/>
          </a:xfrm>
          <a:prstGeom prst="rect">
            <a:avLst/>
          </a:prstGeom>
          <a:solidFill>
            <a:srgbClr val="1A2E1A"/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82512" y="325526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479792" y="3525012"/>
            <a:ext cx="274320" cy="274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4112" y="3255264"/>
            <a:ext cx="1097280" cy="566928"/>
          </a:xfrm>
          <a:prstGeom prst="rect">
            <a:avLst/>
          </a:prstGeom>
          <a:solidFill>
            <a:srgbClr val="1A2A1A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54112" y="325526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下一個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檔案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73552" y="3913632"/>
            <a:ext cx="2834640" cy="457200"/>
          </a:xfrm>
          <a:prstGeom prst="rect">
            <a:avLst/>
          </a:prstGeom>
          <a:solidFill>
            <a:srgbClr val="2A1A0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64992" y="391363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REJECTED → 補充 bug 回饋 → 重新生成（max 3×）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926080" y="4128516"/>
            <a:ext cx="347472" cy="274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12364" y="3538728"/>
            <a:ext cx="27432" cy="60350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4640" y="342900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74320" y="4919472"/>
            <a:ext cx="8595360" cy="347472"/>
          </a:xfrm>
          <a:prstGeom prst="rect">
            <a:avLst/>
          </a:prstGeom>
          <a:solidFill>
            <a:srgbClr val="2A1818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4048" y="491947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 超過最大重試次數（3×）→ Human In The Loop 介入  ·  run_now.py 直接使用預建 SPEC 跳過 Brainstorm，加快測試流程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spc="600" kern="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2286000" y="2029968"/>
            <a:ext cx="45720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17627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不是遙遠的未來，是現在就能落地的工程工具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834640"/>
            <a:ext cx="1901952" cy="475488"/>
          </a:xfrm>
          <a:prstGeom prst="rect">
            <a:avLst/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834640"/>
            <a:ext cx="45720" cy="47548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83464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Ch1  LLM → Workflow → Agent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78608" y="2834640"/>
            <a:ext cx="1901952" cy="475488"/>
          </a:xfrm>
          <a:prstGeom prst="rect">
            <a:avLst/>
          </a:prstGeom>
          <a:solidFill>
            <a:srgbClr val="1E293B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78608" y="2834640"/>
            <a:ext cx="45720" cy="47548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88336" y="283464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Ch2  agency-agents 實戰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08576" y="2834640"/>
            <a:ext cx="1901952" cy="475488"/>
          </a:xfrm>
          <a:prstGeom prst="rect">
            <a:avLst/>
          </a:prstGeom>
          <a:solidFill>
            <a:srgbClr val="1E293B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08576" y="2834640"/>
            <a:ext cx="45720" cy="475488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18304" y="283464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Ch3  自建 onduty Agent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638544" y="2834640"/>
            <a:ext cx="1901952" cy="475488"/>
          </a:xfrm>
          <a:prstGeom prst="rect">
            <a:avLst/>
          </a:prstGeom>
          <a:solidFill>
            <a:srgbClr val="1E293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38544" y="2834640"/>
            <a:ext cx="45720" cy="47548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48272" y="283464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Ch4  AI Agent 組建團隊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github.com/msitarzewski/agency-agents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完整指南</dc:title>
  <dc:subject>PptxGenJS Presentation</dc:subject>
  <dc:creator>PptxGenJS</dc:creator>
  <cp:lastModifiedBy>PptxGenJS</cp:lastModifiedBy>
  <cp:revision>1</cp:revision>
  <dcterms:created xsi:type="dcterms:W3CDTF">2026-05-19T23:27:10Z</dcterms:created>
  <dcterms:modified xsi:type="dcterms:W3CDTF">2026-05-19T23:27:10Z</dcterms:modified>
</cp:coreProperties>
</file>